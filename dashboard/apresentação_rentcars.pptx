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63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6089488" cy="496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de Reservas RentCars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902959"/>
            <a:ext cx="5513432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do funil completo: aquisição → conversão → monetização → cancelamento</a:t>
            </a:r>
            <a:endParaRPr lang="en-US" sz="126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7" y="285750"/>
            <a:ext cx="568068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253003"/>
            <a:ext cx="8286750" cy="49180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pt-BR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negócio apresenta crescimento consistente em volume, mas com perdas relevantes ao longo do funil.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pt-BR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análise identifica onde a receita é capturada e onde ela se perde </a:t>
            </a: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(Outubro a Março).</a:t>
            </a:r>
            <a:endParaRPr lang="en-US" sz="1269" dirty="0"/>
          </a:p>
        </p:txBody>
      </p:sp>
      <p:sp>
        <p:nvSpPr>
          <p:cNvPr id="7" name="Shape 3"/>
          <p:cNvSpPr/>
          <p:nvPr/>
        </p:nvSpPr>
        <p:spPr>
          <a:xfrm>
            <a:off x="428625" y="1967378"/>
            <a:ext cx="2676534" cy="1212652"/>
          </a:xfrm>
          <a:prstGeom prst="rect">
            <a:avLst/>
          </a:prstGeom>
          <a:solidFill>
            <a:srgbClr val="3A3A3A">
              <a:alpha val="2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2095965"/>
            <a:ext cx="2409816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7213" y="2467440"/>
            <a:ext cx="24098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116k</a:t>
            </a:r>
            <a:endParaRPr lang="en-US" sz="2436" dirty="0"/>
          </a:p>
        </p:txBody>
      </p:sp>
      <p:sp>
        <p:nvSpPr>
          <p:cNvPr id="10" name="Text 5"/>
          <p:cNvSpPr/>
          <p:nvPr/>
        </p:nvSpPr>
        <p:spPr>
          <a:xfrm>
            <a:off x="557213" y="2881778"/>
            <a:ext cx="24098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SESSÕES TOTAIS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3224203" y="1967378"/>
            <a:ext cx="2681278" cy="1212652"/>
          </a:xfrm>
          <a:prstGeom prst="rect">
            <a:avLst/>
          </a:prstGeom>
          <a:solidFill>
            <a:srgbClr val="3A3A3A">
              <a:alpha val="2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7563" y="2095965"/>
            <a:ext cx="2414588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57563" y="2467440"/>
            <a:ext cx="24145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14,3k</a:t>
            </a:r>
            <a:endParaRPr lang="en-US" sz="2436" dirty="0"/>
          </a:p>
        </p:txBody>
      </p:sp>
      <p:sp>
        <p:nvSpPr>
          <p:cNvPr id="14" name="Text 8"/>
          <p:cNvSpPr/>
          <p:nvPr/>
        </p:nvSpPr>
        <p:spPr>
          <a:xfrm>
            <a:off x="3357563" y="2881778"/>
            <a:ext cx="2414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RESERVAS REALIZADAS</a:t>
            </a:r>
            <a:endParaRPr lang="en-US" sz="942" dirty="0"/>
          </a:p>
        </p:txBody>
      </p:sp>
      <p:sp>
        <p:nvSpPr>
          <p:cNvPr id="15" name="Shape 9"/>
          <p:cNvSpPr/>
          <p:nvPr/>
        </p:nvSpPr>
        <p:spPr>
          <a:xfrm>
            <a:off x="6029325" y="1967378"/>
            <a:ext cx="2686050" cy="1212652"/>
          </a:xfrm>
          <a:prstGeom prst="rect">
            <a:avLst/>
          </a:prstGeom>
          <a:solidFill>
            <a:srgbClr val="3A3A3A">
              <a:alpha val="2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456" y="2095965"/>
            <a:ext cx="2419359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67456" y="2467440"/>
            <a:ext cx="24193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R$ 22M</a:t>
            </a:r>
            <a:endParaRPr lang="en-US" sz="2436" dirty="0"/>
          </a:p>
        </p:txBody>
      </p:sp>
      <p:sp>
        <p:nvSpPr>
          <p:cNvPr id="18" name="Text 11"/>
          <p:cNvSpPr/>
          <p:nvPr/>
        </p:nvSpPr>
        <p:spPr>
          <a:xfrm>
            <a:off x="6167456" y="2881778"/>
            <a:ext cx="2419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GERADA</a:t>
            </a:r>
            <a:endParaRPr lang="en-US" sz="942" dirty="0"/>
          </a:p>
        </p:txBody>
      </p:sp>
      <p:sp>
        <p:nvSpPr>
          <p:cNvPr id="19" name="Shape 12"/>
          <p:cNvSpPr/>
          <p:nvPr/>
        </p:nvSpPr>
        <p:spPr>
          <a:xfrm>
            <a:off x="428625" y="3294329"/>
            <a:ext cx="4079081" cy="1527311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213" y="3440776"/>
            <a:ext cx="212052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0702" y="3422917"/>
            <a:ext cx="16920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do Negócio</a:t>
            </a:r>
            <a:endParaRPr lang="en-US" sz="1193" dirty="0"/>
          </a:p>
        </p:txBody>
      </p:sp>
      <p:sp>
        <p:nvSpPr>
          <p:cNvPr id="22" name="Text 14"/>
          <p:cNvSpPr/>
          <p:nvPr/>
        </p:nvSpPr>
        <p:spPr>
          <a:xfrm>
            <a:off x="557213" y="3742599"/>
            <a:ext cx="33807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de receita é determinado por três vetores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557213" y="3971199"/>
            <a:ext cx="8614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simultâneos: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418704" y="3971199"/>
            <a:ext cx="12929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de reservas</a:t>
            </a:r>
            <a:endParaRPr lang="en-US" sz="987" dirty="0"/>
          </a:p>
        </p:txBody>
      </p:sp>
      <p:sp>
        <p:nvSpPr>
          <p:cNvPr id="25" name="Text 17"/>
          <p:cNvSpPr/>
          <p:nvPr/>
        </p:nvSpPr>
        <p:spPr>
          <a:xfrm>
            <a:off x="2711667" y="3971199"/>
            <a:ext cx="776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2789272" y="3971199"/>
            <a:ext cx="8048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médio</a:t>
            </a:r>
            <a:endParaRPr lang="en-US" sz="987" dirty="0"/>
          </a:p>
        </p:txBody>
      </p:sp>
      <p:sp>
        <p:nvSpPr>
          <p:cNvPr id="27" name="Text 19"/>
          <p:cNvSpPr/>
          <p:nvPr/>
        </p:nvSpPr>
        <p:spPr>
          <a:xfrm>
            <a:off x="3594088" y="3971199"/>
            <a:ext cx="15925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753343" y="3971199"/>
            <a:ext cx="48228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</a:t>
            </a:r>
            <a:endParaRPr lang="en-US" sz="987" dirty="0"/>
          </a:p>
        </p:txBody>
      </p:sp>
      <p:sp>
        <p:nvSpPr>
          <p:cNvPr id="29" name="Text 21"/>
          <p:cNvSpPr/>
          <p:nvPr/>
        </p:nvSpPr>
        <p:spPr>
          <a:xfrm>
            <a:off x="557213" y="4199799"/>
            <a:ext cx="9334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cancelamento</a:t>
            </a:r>
            <a:endParaRPr lang="en-US" sz="987" dirty="0"/>
          </a:p>
        </p:txBody>
      </p:sp>
      <p:sp>
        <p:nvSpPr>
          <p:cNvPr id="30" name="Text 22"/>
          <p:cNvSpPr/>
          <p:nvPr/>
        </p:nvSpPr>
        <p:spPr>
          <a:xfrm>
            <a:off x="1490616" y="4199799"/>
            <a:ext cx="388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557213" y="4473048"/>
            <a:ext cx="4345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Sessão</a:t>
            </a:r>
            <a:endParaRPr lang="en-US" sz="885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506" y="4511613"/>
            <a:ext cx="110254" cy="128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73485" y="4473048"/>
            <a:ext cx="36899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</a:t>
            </a:r>
            <a:endParaRPr lang="en-US" sz="885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8201" y="4511613"/>
            <a:ext cx="110254" cy="128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924180" y="4473048"/>
            <a:ext cx="48407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</a:t>
            </a:r>
            <a:endParaRPr lang="en-US" sz="885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3978" y="4511613"/>
            <a:ext cx="110254" cy="12858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689957" y="4473048"/>
            <a:ext cx="1710405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efetiva (sem cancelamento)</a:t>
            </a:r>
            <a:endParaRPr lang="en-US" sz="885" dirty="0"/>
          </a:p>
        </p:txBody>
      </p:sp>
      <p:sp>
        <p:nvSpPr>
          <p:cNvPr id="38" name="Shape 27"/>
          <p:cNvSpPr/>
          <p:nvPr/>
        </p:nvSpPr>
        <p:spPr>
          <a:xfrm>
            <a:off x="4629150" y="3294329"/>
            <a:ext cx="4086225" cy="1478756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4881" y="3440776"/>
            <a:ext cx="169190" cy="1714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05508" y="3422917"/>
            <a:ext cx="15353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da Análise</a:t>
            </a:r>
            <a:endParaRPr lang="en-US" sz="1193" dirty="0"/>
          </a:p>
        </p:txBody>
      </p:sp>
      <p:sp>
        <p:nvSpPr>
          <p:cNvPr id="41" name="Text 29"/>
          <p:cNvSpPr/>
          <p:nvPr/>
        </p:nvSpPr>
        <p:spPr>
          <a:xfrm>
            <a:off x="4761309" y="3839834"/>
            <a:ext cx="3821906" cy="43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pt-BR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os principais vazamentos de receita ao longo do funil e priorizar ações de maior impacto para crescimento eficiente.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525174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de Reservas &amp; Receita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317" y="285750"/>
            <a:ext cx="426058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1027249"/>
            <a:ext cx="3675459" cy="1150144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528638" y="1127261"/>
            <a:ext cx="34754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Principal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28638" y="1420155"/>
            <a:ext cx="3475434" cy="417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volatilidade da receita é explicada pela variação do ticket médio, e não pelo volume de reservas.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28625" y="2277405"/>
            <a:ext cx="36754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os dados mostram: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28625" y="2536366"/>
            <a:ext cx="3904210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número de reservas se mantém relativamente estável ao longo do tempo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28625" y="2813521"/>
            <a:ext cx="4043671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receita diária apresenta alta volatilidade mesmo após a remoção de outliers</a:t>
            </a: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428625" y="3090676"/>
            <a:ext cx="3904210" cy="28995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ticket médio varia significativamente (~R$900 a R$2.300), acompanhando as oscilações da receita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428625" y="3399582"/>
            <a:ext cx="3136371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há correlação direta entre volume de reservas e receita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428625" y="3670894"/>
            <a:ext cx="3675459" cy="1425691"/>
          </a:xfrm>
          <a:prstGeom prst="rect">
            <a:avLst/>
          </a:prstGeom>
          <a:solidFill>
            <a:srgbClr val="F5A623">
              <a:alpha val="5000"/>
            </a:srgbClr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1"/>
          <p:cNvSpPr/>
          <p:nvPr/>
        </p:nvSpPr>
        <p:spPr>
          <a:xfrm>
            <a:off x="428625" y="2536366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428625" y="2813521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428625" y="3090676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8" name="Text 14"/>
          <p:cNvSpPr/>
          <p:nvPr/>
        </p:nvSpPr>
        <p:spPr>
          <a:xfrm>
            <a:off x="428625" y="3399582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8" y="3800376"/>
            <a:ext cx="104896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971" y="3785195"/>
            <a:ext cx="16427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 Acionável</a:t>
            </a:r>
            <a:endParaRPr lang="en-US" sz="987" dirty="0"/>
          </a:p>
        </p:txBody>
      </p:sp>
      <p:sp>
        <p:nvSpPr>
          <p:cNvPr id="21" name="Text 16"/>
          <p:cNvSpPr/>
          <p:nvPr/>
        </p:nvSpPr>
        <p:spPr>
          <a:xfrm>
            <a:off x="528638" y="3945823"/>
            <a:ext cx="3475434" cy="132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t-BR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 e otimizar o ticket médio como principal alavanca de crescimento de receita.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pt-BR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Investigar e atuar sobre os drivers de variação:</a:t>
            </a:r>
          </a:p>
          <a:p>
            <a:pPr marL="171450" indent="-171450" algn="l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pt-BR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Mix de categorias de veículos.</a:t>
            </a:r>
          </a:p>
          <a:p>
            <a:pPr marL="171450" indent="-171450" algn="l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pt-BR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Duração de locações.</a:t>
            </a:r>
          </a:p>
          <a:p>
            <a:pPr marL="171450" indent="-171450" algn="l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pt-BR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Pricing e estratégias promocionais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942" dirty="0">
              <a:solidFill>
                <a:srgbClr val="FFFFFF"/>
              </a:solidFill>
              <a:latin typeface="Inter" pitchFamily="34" charset="0"/>
              <a:ea typeface="Inter" pitchFamily="34" charset="-122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3F61EE91-0E25-0BF8-9BDC-6A789DE7E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557" y="886602"/>
            <a:ext cx="3306893" cy="121864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93D68716-D5CD-720B-083B-5D6BB6250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557" y="2331921"/>
            <a:ext cx="3306893" cy="1268996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C727CF1C-C137-D4D0-08AA-F1C7202576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5558" y="3827590"/>
            <a:ext cx="3312452" cy="1268996"/>
          </a:xfrm>
          <a:prstGeom prst="rect">
            <a:avLst/>
          </a:prstGeom>
        </p:spPr>
      </p:pic>
      <p:sp>
        <p:nvSpPr>
          <p:cNvPr id="37" name="Text 6">
            <a:extLst>
              <a:ext uri="{FF2B5EF4-FFF2-40B4-BE49-F238E27FC236}">
                <a16:creationId xmlns:a16="http://schemas.microsoft.com/office/drawing/2014/main" id="{EA6B740E-506A-D847-A3C6-E9889290EA6D}"/>
              </a:ext>
            </a:extLst>
          </p:cNvPr>
          <p:cNvSpPr/>
          <p:nvPr/>
        </p:nvSpPr>
        <p:spPr>
          <a:xfrm>
            <a:off x="4826887" y="677259"/>
            <a:ext cx="1898853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 do Número de  Reservas</a:t>
            </a:r>
            <a:endParaRPr lang="en-US" sz="942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110B1B5-5B44-1286-AD95-6BBDA902B985}"/>
              </a:ext>
            </a:extLst>
          </p:cNvPr>
          <p:cNvSpPr/>
          <p:nvPr/>
        </p:nvSpPr>
        <p:spPr>
          <a:xfrm>
            <a:off x="4865557" y="2122251"/>
            <a:ext cx="1461234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da Receita Total</a:t>
            </a:r>
            <a:endParaRPr lang="en-US" sz="942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6F72A7B9-0CA4-5675-458B-76CA4F95D200}"/>
              </a:ext>
            </a:extLst>
          </p:cNvPr>
          <p:cNvSpPr/>
          <p:nvPr/>
        </p:nvSpPr>
        <p:spPr>
          <a:xfrm>
            <a:off x="4865558" y="3635591"/>
            <a:ext cx="1467646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do Ticket Médio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9CC53E14-1F76-5288-1562-CEFF8364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232672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Funil de Conversão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734355"/>
            <a:ext cx="42326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Maior Perda Está no Fundo do Funil — Não no Topo</a:t>
            </a:r>
            <a:endParaRPr lang="en-US" sz="126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317" y="285750"/>
            <a:ext cx="426058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0997" y="1145008"/>
            <a:ext cx="3143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do Funil Completo</a:t>
            </a:r>
            <a:endParaRPr lang="en-US" sz="1193" dirty="0"/>
          </a:p>
        </p:txBody>
      </p:sp>
      <p:sp>
        <p:nvSpPr>
          <p:cNvPr id="22" name="Shape 18"/>
          <p:cNvSpPr/>
          <p:nvPr/>
        </p:nvSpPr>
        <p:spPr>
          <a:xfrm>
            <a:off x="301625" y="3955194"/>
            <a:ext cx="3143250" cy="525066"/>
          </a:xfrm>
          <a:prstGeom prst="rect">
            <a:avLst/>
          </a:prstGeom>
          <a:solidFill>
            <a:srgbClr val="F5A623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301625" y="3955194"/>
            <a:ext cx="28575" cy="52506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81" y="4074852"/>
            <a:ext cx="126327" cy="128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567" y="4062350"/>
            <a:ext cx="9936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 de ~40%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1562218" y="4062350"/>
            <a:ext cx="15510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"Reserva Iniciada" e</a:t>
            </a:r>
            <a:endParaRPr lang="en-US" sz="942" dirty="0"/>
          </a:p>
        </p:txBody>
      </p:sp>
      <p:sp>
        <p:nvSpPr>
          <p:cNvPr id="27" name="Text 22"/>
          <p:cNvSpPr/>
          <p:nvPr/>
        </p:nvSpPr>
        <p:spPr>
          <a:xfrm>
            <a:off x="408781" y="4217727"/>
            <a:ext cx="10005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"Reserva Válida".</a:t>
            </a:r>
            <a:endParaRPr lang="en-US" sz="942" dirty="0"/>
          </a:p>
        </p:txBody>
      </p:sp>
      <p:sp>
        <p:nvSpPr>
          <p:cNvPr id="28" name="Shape 23"/>
          <p:cNvSpPr/>
          <p:nvPr/>
        </p:nvSpPr>
        <p:spPr>
          <a:xfrm>
            <a:off x="3786188" y="1155836"/>
            <a:ext cx="2619384" cy="1332309"/>
          </a:xfrm>
          <a:prstGeom prst="rect">
            <a:avLst/>
          </a:prstGeom>
          <a:solidFill>
            <a:srgbClr val="F5A623">
              <a:alpha val="5000"/>
            </a:srgbClr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3" y="1314785"/>
            <a:ext cx="154902" cy="1571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155402" y="1298711"/>
            <a:ext cx="10444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Crítico</a:t>
            </a:r>
            <a:endParaRPr lang="en-US" sz="1090" dirty="0"/>
          </a:p>
        </p:txBody>
      </p:sp>
      <p:sp>
        <p:nvSpPr>
          <p:cNvPr id="31" name="Text 25"/>
          <p:cNvSpPr/>
          <p:nvPr/>
        </p:nvSpPr>
        <p:spPr>
          <a:xfrm>
            <a:off x="3929063" y="1559458"/>
            <a:ext cx="233363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maior vazamento não ocorre na atração, mas no momento em que o usuário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 decidiu comprar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Quase metade falha no checkout.</a:t>
            </a:r>
            <a:endParaRPr lang="en-US" sz="942" dirty="0"/>
          </a:p>
        </p:txBody>
      </p:sp>
      <p:sp>
        <p:nvSpPr>
          <p:cNvPr id="32" name="Shape 26"/>
          <p:cNvSpPr/>
          <p:nvPr/>
        </p:nvSpPr>
        <p:spPr>
          <a:xfrm>
            <a:off x="3786188" y="2616733"/>
            <a:ext cx="2619384" cy="2526767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/>
          <p:nvPr/>
        </p:nvSpPr>
        <p:spPr>
          <a:xfrm>
            <a:off x="3929063" y="2759608"/>
            <a:ext cx="23336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Possíveis Causas:</a:t>
            </a:r>
            <a:endParaRPr lang="en-US" sz="987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3" y="3061432"/>
            <a:ext cx="142401" cy="128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143375" y="3057860"/>
            <a:ext cx="161448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Erros no processamento de pagamento</a:t>
            </a:r>
            <a:endParaRPr lang="en-US" sz="942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3" y="3532919"/>
            <a:ext cx="78107" cy="128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143375" y="3529347"/>
            <a:ext cx="161579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Fricção excessiva na UX do checkout</a:t>
            </a:r>
            <a:endParaRPr lang="en-US" sz="942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3" y="4004407"/>
            <a:ext cx="126327" cy="128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143375" y="4000835"/>
            <a:ext cx="159436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Validações de fraude muito restritivas</a:t>
            </a:r>
            <a:endParaRPr lang="en-US" sz="942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3" y="4475894"/>
            <a:ext cx="158474" cy="128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143375" y="4472322"/>
            <a:ext cx="1864602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Indisponibilidade de veículos no momento da confirmação</a:t>
            </a:r>
            <a:endParaRPr lang="en-US" sz="942" dirty="0"/>
          </a:p>
        </p:txBody>
      </p:sp>
      <p:sp>
        <p:nvSpPr>
          <p:cNvPr id="42" name="Shape 32"/>
          <p:cNvSpPr/>
          <p:nvPr/>
        </p:nvSpPr>
        <p:spPr>
          <a:xfrm>
            <a:off x="6619884" y="1155836"/>
            <a:ext cx="2095491" cy="1701998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3"/>
          <p:cNvSpPr/>
          <p:nvPr/>
        </p:nvSpPr>
        <p:spPr>
          <a:xfrm>
            <a:off x="6762759" y="1298711"/>
            <a:ext cx="18097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isso é grave?</a:t>
            </a:r>
            <a:endParaRPr lang="en-US" sz="987" dirty="0"/>
          </a:p>
        </p:txBody>
      </p:sp>
      <p:sp>
        <p:nvSpPr>
          <p:cNvPr id="44" name="Text 34"/>
          <p:cNvSpPr/>
          <p:nvPr/>
        </p:nvSpPr>
        <p:spPr>
          <a:xfrm>
            <a:off x="6762759" y="1543385"/>
            <a:ext cx="1809741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usuário já superou todas as barreiras de descoberta e intenção. A falha ocorre na etapa de maior valor — quando a receita deveria ser capturada.</a:t>
            </a:r>
            <a:endParaRPr lang="en-US" sz="942" dirty="0"/>
          </a:p>
        </p:txBody>
      </p:sp>
      <p:sp>
        <p:nvSpPr>
          <p:cNvPr id="45" name="Shape 35"/>
          <p:cNvSpPr/>
          <p:nvPr/>
        </p:nvSpPr>
        <p:spPr>
          <a:xfrm>
            <a:off x="6619884" y="2986422"/>
            <a:ext cx="2095491" cy="2157078"/>
          </a:xfrm>
          <a:prstGeom prst="rect">
            <a:avLst/>
          </a:prstGeom>
          <a:solidFill>
            <a:srgbClr val="F5A623"/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8478" y="3273791"/>
            <a:ext cx="126327" cy="17145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96243" y="3255931"/>
            <a:ext cx="116867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 Imediata</a:t>
            </a:r>
            <a:endParaRPr lang="en-US" sz="1193" dirty="0"/>
          </a:p>
        </p:txBody>
      </p:sp>
      <p:sp>
        <p:nvSpPr>
          <p:cNvPr id="48" name="Text 37"/>
          <p:cNvSpPr/>
          <p:nvPr/>
        </p:nvSpPr>
        <p:spPr>
          <a:xfrm>
            <a:off x="6798478" y="3570256"/>
            <a:ext cx="173830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Instrumentar o step de pagamento para monitorar e reduzir este vazamento crítico.</a:t>
            </a:r>
            <a:endParaRPr lang="en-US" sz="987" dirty="0"/>
          </a:p>
        </p:txBody>
      </p:sp>
      <p:sp>
        <p:nvSpPr>
          <p:cNvPr id="49" name="Shape 38"/>
          <p:cNvSpPr/>
          <p:nvPr/>
        </p:nvSpPr>
        <p:spPr>
          <a:xfrm>
            <a:off x="6798478" y="4477513"/>
            <a:ext cx="1738303" cy="396478"/>
          </a:xfrm>
          <a:prstGeom prst="rect">
            <a:avLst/>
          </a:prstGeom>
          <a:solidFill>
            <a:srgbClr val="1A1A1A">
              <a:alpha val="10000"/>
            </a:srgbClr>
          </a:solidFill>
          <a:ln w="9144">
            <a:solidFill>
              <a:srgbClr val="1A1A1A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39"/>
          <p:cNvSpPr/>
          <p:nvPr/>
        </p:nvSpPr>
        <p:spPr>
          <a:xfrm>
            <a:off x="6798478" y="4477513"/>
            <a:ext cx="1738303" cy="39647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booking_attempt → success_rate</a:t>
            </a:r>
            <a:endParaRPr lang="en-US" sz="834" dirty="0"/>
          </a:p>
        </p:txBody>
      </p:sp>
      <p:pic>
        <p:nvPicPr>
          <p:cNvPr id="53" name="Imagem 52">
            <a:extLst>
              <a:ext uri="{FF2B5EF4-FFF2-40B4-BE49-F238E27FC236}">
                <a16:creationId xmlns:a16="http://schemas.microsoft.com/office/drawing/2014/main" id="{3AD4F33E-04CB-B82E-F947-2992A6293C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079" y="1614710"/>
            <a:ext cx="3471516" cy="1779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289822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Cancelamentos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734355"/>
            <a:ext cx="453944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Cancelamento é estrutural e concentrado em parceiros e localidades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317" y="285750"/>
            <a:ext cx="426058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1084399"/>
            <a:ext cx="3636811" cy="1550194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514350" y="1170124"/>
            <a:ext cx="34653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Principal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14350" y="1463018"/>
            <a:ext cx="3465361" cy="635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estável (~14%), mas com alta variação por parceiro (12–16%) e localização (10–21%)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 ele não é homogêneo: está </a:t>
            </a:r>
            <a:r>
              <a:rPr lang="en-US" sz="987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concentrado em parceiros, categorias e localidades específicas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8625" y="2706030"/>
            <a:ext cx="3636811" cy="1339454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14350" y="2791755"/>
            <a:ext cx="34653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Geral: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514350" y="3050716"/>
            <a:ext cx="3465361" cy="185756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Cancelamento estável no tempo </a:t>
            </a:r>
            <a:r>
              <a:rPr lang="en-US" sz="885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~14%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514350" y="3327871"/>
            <a:ext cx="1783437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tendência clara de melhora</a:t>
            </a:r>
          </a:p>
        </p:txBody>
      </p:sp>
      <p:sp>
        <p:nvSpPr>
          <p:cNvPr id="13" name="Text 9"/>
          <p:cNvSpPr/>
          <p:nvPr/>
        </p:nvSpPr>
        <p:spPr>
          <a:xfrm>
            <a:off x="514350" y="3566926"/>
            <a:ext cx="1531766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dispersão por parceiro</a:t>
            </a:r>
          </a:p>
        </p:txBody>
      </p:sp>
      <p:sp>
        <p:nvSpPr>
          <p:cNvPr id="14" name="Text 10"/>
          <p:cNvSpPr/>
          <p:nvPr/>
        </p:nvSpPr>
        <p:spPr>
          <a:xfrm>
            <a:off x="514350" y="3050716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514350" y="3327871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514350" y="3566926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572477" y="4302658"/>
            <a:ext cx="3465361" cy="417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Reduzir cancelamento é a alavanca mais eficiente para aumentar conversão e receita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408824" y="3961856"/>
            <a:ext cx="4430377" cy="1120675"/>
          </a:xfrm>
          <a:prstGeom prst="rect">
            <a:avLst/>
          </a:prstGeom>
          <a:solidFill>
            <a:srgbClr val="F5A623">
              <a:alpha val="5000"/>
            </a:srgbClr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301" y="4040809"/>
            <a:ext cx="154902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32640" y="4024736"/>
            <a:ext cx="16644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Ações Recomendadas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4494061" y="4245422"/>
            <a:ext cx="4192739" cy="17812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t-BR" sz="1000" dirty="0">
                <a:solidFill>
                  <a:srgbClr val="FFFFFF"/>
                </a:solidFill>
              </a:rPr>
              <a:t>Atuar nos parceiros com </a:t>
            </a:r>
            <a:r>
              <a:rPr lang="pt-BR" sz="1000" b="1" dirty="0">
                <a:solidFill>
                  <a:srgbClr val="FFFFFF"/>
                </a:solidFill>
              </a:rPr>
              <a:t>&gt;15% </a:t>
            </a:r>
            <a:r>
              <a:rPr lang="pt-BR" sz="1000" dirty="0">
                <a:solidFill>
                  <a:srgbClr val="FFFFFF"/>
                </a:solidFill>
              </a:rPr>
              <a:t>cancelamento</a:t>
            </a:r>
          </a:p>
        </p:txBody>
      </p:sp>
      <p:sp>
        <p:nvSpPr>
          <p:cNvPr id="26" name="Text 20"/>
          <p:cNvSpPr/>
          <p:nvPr/>
        </p:nvSpPr>
        <p:spPr>
          <a:xfrm>
            <a:off x="4506301" y="4804595"/>
            <a:ext cx="4192739" cy="1538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pt-BR" sz="1000" dirty="0"/>
              <a:t>Revisar inventário e disponibilidade</a:t>
            </a:r>
          </a:p>
        </p:txBody>
      </p:sp>
      <p:sp>
        <p:nvSpPr>
          <p:cNvPr id="28" name="Shape 22"/>
          <p:cNvSpPr/>
          <p:nvPr/>
        </p:nvSpPr>
        <p:spPr>
          <a:xfrm>
            <a:off x="4506301" y="4268020"/>
            <a:ext cx="171450" cy="17145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4506301" y="4549008"/>
            <a:ext cx="171450" cy="17145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6"/>
          <p:cNvSpPr/>
          <p:nvPr/>
        </p:nvSpPr>
        <p:spPr>
          <a:xfrm>
            <a:off x="4506301" y="4804595"/>
            <a:ext cx="171450" cy="17145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E7D8C206-4C56-764D-3C6D-6B8AF66D6A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824" y="1091518"/>
            <a:ext cx="4430377" cy="1550194"/>
          </a:xfrm>
          <a:prstGeom prst="rect">
            <a:avLst/>
          </a:prstGeom>
        </p:spPr>
      </p:pic>
      <p:sp>
        <p:nvSpPr>
          <p:cNvPr id="38" name="Text 9">
            <a:extLst>
              <a:ext uri="{FF2B5EF4-FFF2-40B4-BE49-F238E27FC236}">
                <a16:creationId xmlns:a16="http://schemas.microsoft.com/office/drawing/2014/main" id="{3D00550E-AE64-947D-BF16-984B5381DCA0}"/>
              </a:ext>
            </a:extLst>
          </p:cNvPr>
          <p:cNvSpPr/>
          <p:nvPr/>
        </p:nvSpPr>
        <p:spPr>
          <a:xfrm>
            <a:off x="514350" y="3801876"/>
            <a:ext cx="1728935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Localização tem maior impacto</a:t>
            </a: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1FB93037-53D5-E058-903B-BED8D732927C}"/>
              </a:ext>
            </a:extLst>
          </p:cNvPr>
          <p:cNvSpPr/>
          <p:nvPr/>
        </p:nvSpPr>
        <p:spPr>
          <a:xfrm>
            <a:off x="514350" y="3801876"/>
            <a:ext cx="5812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8628AA92-8193-0D14-C62F-B18ED9B63D25}"/>
              </a:ext>
            </a:extLst>
          </p:cNvPr>
          <p:cNvSpPr/>
          <p:nvPr/>
        </p:nvSpPr>
        <p:spPr>
          <a:xfrm>
            <a:off x="4494547" y="4541569"/>
            <a:ext cx="4192739" cy="17812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t-BR" sz="1000" dirty="0">
                <a:solidFill>
                  <a:srgbClr val="FFFFFF"/>
                </a:solidFill>
              </a:rPr>
              <a:t>Priorizar </a:t>
            </a:r>
            <a:r>
              <a:rPr lang="pt-BR" sz="1000" b="1" dirty="0">
                <a:solidFill>
                  <a:srgbClr val="FFFFFF"/>
                </a:solidFill>
              </a:rPr>
              <a:t>cidades</a:t>
            </a:r>
            <a:r>
              <a:rPr lang="pt-BR" sz="1000" dirty="0">
                <a:solidFill>
                  <a:srgbClr val="FFFFFF"/>
                </a:solidFill>
              </a:rPr>
              <a:t> críticas (ex: Salvador, Bogotá)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9CD5493E-7472-497E-1F18-2D2D44F26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824" y="2787298"/>
            <a:ext cx="2095169" cy="1120675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21D71A46-A52D-F7A1-2532-D924D91C0E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2671" y="2787298"/>
            <a:ext cx="2236530" cy="1120675"/>
          </a:xfrm>
          <a:prstGeom prst="rect">
            <a:avLst/>
          </a:prstGeom>
        </p:spPr>
      </p:pic>
      <p:sp>
        <p:nvSpPr>
          <p:cNvPr id="45" name="Text 6">
            <a:extLst>
              <a:ext uri="{FF2B5EF4-FFF2-40B4-BE49-F238E27FC236}">
                <a16:creationId xmlns:a16="http://schemas.microsoft.com/office/drawing/2014/main" id="{48B63C51-A01A-B789-AADE-9668E3D3DACA}"/>
              </a:ext>
            </a:extLst>
          </p:cNvPr>
          <p:cNvSpPr/>
          <p:nvPr/>
        </p:nvSpPr>
        <p:spPr>
          <a:xfrm>
            <a:off x="5659563" y="890871"/>
            <a:ext cx="1688860" cy="18575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cancelamento Mensal</a:t>
            </a:r>
            <a:endParaRPr lang="en-US" sz="942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AA3B0903-5652-2A46-D6AA-BD1A7780E2E2}"/>
              </a:ext>
            </a:extLst>
          </p:cNvPr>
          <p:cNvSpPr/>
          <p:nvPr/>
        </p:nvSpPr>
        <p:spPr>
          <a:xfrm>
            <a:off x="4506301" y="2596733"/>
            <a:ext cx="1679242" cy="181012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cancelamento por parceiro</a:t>
            </a:r>
            <a:endParaRPr lang="en-US" sz="8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9B3395E7-63CE-97D9-BC4B-0D252425A4E4}"/>
              </a:ext>
            </a:extLst>
          </p:cNvPr>
          <p:cNvSpPr/>
          <p:nvPr/>
        </p:nvSpPr>
        <p:spPr>
          <a:xfrm>
            <a:off x="6467461" y="2597409"/>
            <a:ext cx="2371740" cy="181012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t-BR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Cancelamento por Local de Pickup – Nov/24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6781215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pt-BR" sz="2436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 entre Receita e Cancelamento por Parceiro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317" y="285750"/>
            <a:ext cx="426058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860780"/>
            <a:ext cx="4782438" cy="849822"/>
          </a:xfrm>
          <a:prstGeom prst="rect">
            <a:avLst/>
          </a:prstGeom>
          <a:solidFill>
            <a:srgbClr val="F5A623">
              <a:alpha val="5000"/>
            </a:srgbClr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962579"/>
            <a:ext cx="154902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0690" y="946505"/>
            <a:ext cx="391133" cy="181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514350" y="1207252"/>
            <a:ext cx="5272496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rPr lang="pt-BR" sz="1000" dirty="0"/>
              <a:t>Nem toda receita é igual, eficiência depende do nível de cancelamento.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rPr lang="pt-BR" sz="1000" dirty="0"/>
              <a:t>Parceiros com maior receita nem sempre são os mais eficientes, e alguns concentram alto cancelamento com impacto direto na conversão.</a:t>
            </a:r>
          </a:p>
        </p:txBody>
      </p:sp>
      <p:sp>
        <p:nvSpPr>
          <p:cNvPr id="18" name="Shape 13"/>
          <p:cNvSpPr/>
          <p:nvPr/>
        </p:nvSpPr>
        <p:spPr>
          <a:xfrm>
            <a:off x="5398692" y="2892846"/>
            <a:ext cx="1782700" cy="771832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4"/>
          <p:cNvSpPr/>
          <p:nvPr/>
        </p:nvSpPr>
        <p:spPr>
          <a:xfrm>
            <a:off x="5539307" y="2964284"/>
            <a:ext cx="58990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</a:t>
            </a:r>
            <a:endParaRPr lang="en-US" sz="784" dirty="0"/>
          </a:p>
        </p:txBody>
      </p:sp>
      <p:sp>
        <p:nvSpPr>
          <p:cNvPr id="21" name="Text 15"/>
          <p:cNvSpPr/>
          <p:nvPr/>
        </p:nvSpPr>
        <p:spPr>
          <a:xfrm>
            <a:off x="5470130" y="3158951"/>
            <a:ext cx="1632682" cy="41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Receita</a:t>
            </a:r>
            <a:br>
              <a:rPr lang="en-US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Cancelamento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</a:rPr>
              <a:t>Sem parceiros relevantes</a:t>
            </a:r>
            <a:endParaRPr lang="en-US" sz="727" b="1" dirty="0"/>
          </a:p>
        </p:txBody>
      </p:sp>
      <p:sp>
        <p:nvSpPr>
          <p:cNvPr id="22" name="Shape 16"/>
          <p:cNvSpPr/>
          <p:nvPr/>
        </p:nvSpPr>
        <p:spPr>
          <a:xfrm>
            <a:off x="7245686" y="2892846"/>
            <a:ext cx="1789844" cy="757544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7"/>
          <p:cNvSpPr/>
          <p:nvPr/>
        </p:nvSpPr>
        <p:spPr>
          <a:xfrm>
            <a:off x="7407732" y="2964284"/>
            <a:ext cx="304571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</a:t>
            </a:r>
            <a:endParaRPr lang="en-US" sz="784" dirty="0"/>
          </a:p>
        </p:txBody>
      </p:sp>
      <p:sp>
        <p:nvSpPr>
          <p:cNvPr id="25" name="Text 18"/>
          <p:cNvSpPr/>
          <p:nvPr/>
        </p:nvSpPr>
        <p:spPr>
          <a:xfrm>
            <a:off x="7324267" y="3158951"/>
            <a:ext cx="1639825" cy="41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Receita</a:t>
            </a:r>
            <a:b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Cancelamento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pt-BR" sz="727" b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Localiza, Foco, Fox</a:t>
            </a:r>
          </a:p>
        </p:txBody>
      </p:sp>
      <p:sp>
        <p:nvSpPr>
          <p:cNvPr id="26" name="Shape 19"/>
          <p:cNvSpPr/>
          <p:nvPr/>
        </p:nvSpPr>
        <p:spPr>
          <a:xfrm>
            <a:off x="428626" y="4118777"/>
            <a:ext cx="4782438" cy="688457"/>
          </a:xfrm>
          <a:prstGeom prst="rect">
            <a:avLst/>
          </a:prstGeom>
          <a:solidFill>
            <a:srgbClr val="F5A623"/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1" y="4233970"/>
            <a:ext cx="125658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6402" y="4218789"/>
            <a:ext cx="14890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Ação Prioritário</a:t>
            </a:r>
            <a:endParaRPr lang="en-US" sz="987" dirty="0"/>
          </a:p>
        </p:txBody>
      </p:sp>
      <p:sp>
        <p:nvSpPr>
          <p:cNvPr id="29" name="Text 21"/>
          <p:cNvSpPr/>
          <p:nvPr/>
        </p:nvSpPr>
        <p:spPr>
          <a:xfrm>
            <a:off x="514350" y="4449175"/>
            <a:ext cx="3952899" cy="34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pt-BR" sz="8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parceiros eficientes e mitigar risco dos de alto cancelamento aumenta receita líquida.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E6317DD-E235-7A06-8203-CF1283E12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1977265"/>
            <a:ext cx="4782438" cy="1746330"/>
          </a:xfrm>
          <a:prstGeom prst="rect">
            <a:avLst/>
          </a:prstGeom>
        </p:spPr>
      </p:pic>
      <p:sp>
        <p:nvSpPr>
          <p:cNvPr id="39" name="Shape 13">
            <a:extLst>
              <a:ext uri="{FF2B5EF4-FFF2-40B4-BE49-F238E27FC236}">
                <a16:creationId xmlns:a16="http://schemas.microsoft.com/office/drawing/2014/main" id="{FE768FFD-6E25-1494-771F-B56D3464AED4}"/>
              </a:ext>
            </a:extLst>
          </p:cNvPr>
          <p:cNvSpPr/>
          <p:nvPr/>
        </p:nvSpPr>
        <p:spPr>
          <a:xfrm>
            <a:off x="5400867" y="2078598"/>
            <a:ext cx="1782700" cy="771832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B7D11F9C-CDC8-1751-7640-70DD78EC2A96}"/>
              </a:ext>
            </a:extLst>
          </p:cNvPr>
          <p:cNvSpPr/>
          <p:nvPr/>
        </p:nvSpPr>
        <p:spPr>
          <a:xfrm>
            <a:off x="5541482" y="2150036"/>
            <a:ext cx="290144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Escalar</a:t>
            </a:r>
            <a:endParaRPr lang="en-US" sz="784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54AD9BDE-9067-BA2E-D2E7-AB48B53EE283}"/>
              </a:ext>
            </a:extLst>
          </p:cNvPr>
          <p:cNvSpPr/>
          <p:nvPr/>
        </p:nvSpPr>
        <p:spPr>
          <a:xfrm>
            <a:off x="5472305" y="2344703"/>
            <a:ext cx="1632682" cy="41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Receita</a:t>
            </a:r>
            <a:b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Cancelamento</a:t>
            </a:r>
            <a:b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pt-BR" sz="727" b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Enterprise, Movida, Sixt, Avis</a:t>
            </a:r>
            <a:r>
              <a:rPr lang="en-US" sz="727" b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27" b="1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8CE118AB-B17C-6422-CDA6-B92B7EC25544}"/>
              </a:ext>
            </a:extLst>
          </p:cNvPr>
          <p:cNvSpPr/>
          <p:nvPr/>
        </p:nvSpPr>
        <p:spPr>
          <a:xfrm>
            <a:off x="7255784" y="2085128"/>
            <a:ext cx="1782700" cy="771832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E521124-9A92-8085-FED7-8BA182F9ADB9}"/>
              </a:ext>
            </a:extLst>
          </p:cNvPr>
          <p:cNvSpPr/>
          <p:nvPr/>
        </p:nvSpPr>
        <p:spPr>
          <a:xfrm>
            <a:off x="7396399" y="2156566"/>
            <a:ext cx="216406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</a:t>
            </a:r>
            <a:endParaRPr lang="en-US" sz="784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84DB886-2436-3EC3-A2D9-D4F879F68F09}"/>
              </a:ext>
            </a:extLst>
          </p:cNvPr>
          <p:cNvSpPr/>
          <p:nvPr/>
        </p:nvSpPr>
        <p:spPr>
          <a:xfrm>
            <a:off x="7327222" y="2351233"/>
            <a:ext cx="1632682" cy="41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Receita</a:t>
            </a:r>
            <a:b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Cancelamento</a:t>
            </a:r>
            <a:br>
              <a:rPr lang="pt-BR" sz="727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pt-BR" sz="727" b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Hertz, Flexways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2814303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734355"/>
            <a:ext cx="222496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Diagnóstico à captura de valor</a:t>
            </a:r>
            <a:endParaRPr lang="en-US" sz="126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317" y="285750"/>
            <a:ext cx="426058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012961"/>
            <a:ext cx="8700010" cy="1797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t-BR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dados indicam três alavancas principais de crescimento: reduzir perdas no funil, melhorar a qualidade dos parceiros e otimizar a monetização por reserva.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2925" y="1345146"/>
            <a:ext cx="10715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1614488" y="1345146"/>
            <a:ext cx="3493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 RECOMENDADA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5107781" y="1345146"/>
            <a:ext cx="3493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ESPERADO</a:t>
            </a:r>
            <a:endParaRPr lang="en-US" sz="784" dirty="0"/>
          </a:p>
        </p:txBody>
      </p:sp>
      <p:sp>
        <p:nvSpPr>
          <p:cNvPr id="10" name="Shape 6"/>
          <p:cNvSpPr/>
          <p:nvPr/>
        </p:nvSpPr>
        <p:spPr>
          <a:xfrm>
            <a:off x="428625" y="1611250"/>
            <a:ext cx="8286750" cy="351830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542925" y="1668400"/>
            <a:ext cx="542255" cy="223242"/>
          </a:xfrm>
          <a:prstGeom prst="rect">
            <a:avLst/>
          </a:prstGeom>
          <a:solidFill>
            <a:srgbClr val="FF5252">
              <a:alpha val="10000"/>
            </a:srgbClr>
          </a:solidFill>
          <a:ln w="9144">
            <a:solidFill>
              <a:srgbClr val="FF525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1715728"/>
            <a:ext cx="11204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3552" y="1704119"/>
            <a:ext cx="2159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784" dirty="0"/>
          </a:p>
        </p:txBody>
      </p:sp>
      <p:sp>
        <p:nvSpPr>
          <p:cNvPr id="14" name="Text 9"/>
          <p:cNvSpPr/>
          <p:nvPr/>
        </p:nvSpPr>
        <p:spPr>
          <a:xfrm>
            <a:off x="1614488" y="1686260"/>
            <a:ext cx="34932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Instrumentar checkout e medir success rate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5107781" y="1695190"/>
            <a:ext cx="3097002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Reduzir perdas no fundo do funil e aumentar conversão efetiva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28625" y="1991655"/>
            <a:ext cx="8286750" cy="351830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542925" y="2048805"/>
            <a:ext cx="542255" cy="223242"/>
          </a:xfrm>
          <a:prstGeom prst="rect">
            <a:avLst/>
          </a:prstGeom>
          <a:solidFill>
            <a:srgbClr val="FF5252">
              <a:alpha val="10000"/>
            </a:srgbClr>
          </a:solidFill>
          <a:ln w="9144">
            <a:solidFill>
              <a:srgbClr val="FF525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2096133"/>
            <a:ext cx="112040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3552" y="2084524"/>
            <a:ext cx="2159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1614488" y="2066665"/>
            <a:ext cx="3130665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pt-BR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 qualidade por parceiro + gestão ativa de exposição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5107781" y="2075594"/>
            <a:ext cx="3585918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Reduzir cancel. e priorizar parceiros com maior eficiência (receita líquida)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28625" y="2372060"/>
            <a:ext cx="8286750" cy="351830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542925" y="2429210"/>
            <a:ext cx="657839" cy="223242"/>
          </a:xfrm>
          <a:prstGeom prst="rect">
            <a:avLst/>
          </a:prstGeom>
          <a:solidFill>
            <a:srgbClr val="F5A623">
              <a:alpha val="10000"/>
            </a:srgbClr>
          </a:solidFill>
          <a:ln w="9144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2476537"/>
            <a:ext cx="11204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3552" y="2464929"/>
            <a:ext cx="33148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endParaRPr lang="en-US" sz="784" dirty="0"/>
          </a:p>
        </p:txBody>
      </p:sp>
      <p:sp>
        <p:nvSpPr>
          <p:cNvPr id="26" name="Text 19"/>
          <p:cNvSpPr/>
          <p:nvPr/>
        </p:nvSpPr>
        <p:spPr>
          <a:xfrm>
            <a:off x="1614488" y="2447069"/>
            <a:ext cx="2558393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pt-BR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upsell (premium, seguros, duração)</a:t>
            </a:r>
            <a:endParaRPr lang="en-US" sz="987" dirty="0"/>
          </a:p>
        </p:txBody>
      </p:sp>
      <p:sp>
        <p:nvSpPr>
          <p:cNvPr id="27" name="Text 20"/>
          <p:cNvSpPr/>
          <p:nvPr/>
        </p:nvSpPr>
        <p:spPr>
          <a:xfrm>
            <a:off x="5107781" y="2455999"/>
            <a:ext cx="3177152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Aumentar ticket médio sem depender de crescimento de tráfego</a:t>
            </a:r>
            <a:endParaRPr lang="en-US" sz="942" dirty="0"/>
          </a:p>
        </p:txBody>
      </p:sp>
      <p:sp>
        <p:nvSpPr>
          <p:cNvPr id="28" name="Shape 21"/>
          <p:cNvSpPr/>
          <p:nvPr/>
        </p:nvSpPr>
        <p:spPr>
          <a:xfrm>
            <a:off x="428625" y="2752465"/>
            <a:ext cx="8286750" cy="351830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>
            <a:off x="542925" y="2809615"/>
            <a:ext cx="657839" cy="223242"/>
          </a:xfrm>
          <a:prstGeom prst="rect">
            <a:avLst/>
          </a:prstGeom>
          <a:solidFill>
            <a:srgbClr val="F5A623">
              <a:alpha val="10000"/>
            </a:srgbClr>
          </a:solidFill>
          <a:ln w="9144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3" y="2856942"/>
            <a:ext cx="112040" cy="1143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83552" y="2845333"/>
            <a:ext cx="33148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endParaRPr lang="en-US" sz="784" dirty="0"/>
          </a:p>
        </p:txBody>
      </p:sp>
      <p:sp>
        <p:nvSpPr>
          <p:cNvPr id="32" name="Text 24"/>
          <p:cNvSpPr/>
          <p:nvPr/>
        </p:nvSpPr>
        <p:spPr>
          <a:xfrm>
            <a:off x="1614488" y="2827474"/>
            <a:ext cx="1837041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preditivo de cancelamento</a:t>
            </a:r>
            <a:endParaRPr lang="en-US" sz="987" dirty="0"/>
          </a:p>
        </p:txBody>
      </p:sp>
      <p:sp>
        <p:nvSpPr>
          <p:cNvPr id="33" name="Text 25"/>
          <p:cNvSpPr/>
          <p:nvPr/>
        </p:nvSpPr>
        <p:spPr>
          <a:xfrm>
            <a:off x="5107781" y="2836404"/>
            <a:ext cx="3343864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Atuar preventivamente em reservas com alto risco de cancelamento</a:t>
            </a:r>
            <a:endParaRPr lang="en-US" sz="942" dirty="0"/>
          </a:p>
        </p:txBody>
      </p:sp>
      <p:sp>
        <p:nvSpPr>
          <p:cNvPr id="34" name="Shape 26"/>
          <p:cNvSpPr/>
          <p:nvPr/>
        </p:nvSpPr>
        <p:spPr>
          <a:xfrm>
            <a:off x="428625" y="3132869"/>
            <a:ext cx="8286750" cy="351830"/>
          </a:xfrm>
          <a:prstGeom prst="rect">
            <a:avLst/>
          </a:prstGeom>
          <a:solidFill>
            <a:srgbClr val="3A3A3A">
              <a:alpha val="10000"/>
            </a:srgbClr>
          </a:solidFill>
          <a:ln w="9144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7"/>
          <p:cNvSpPr/>
          <p:nvPr/>
        </p:nvSpPr>
        <p:spPr>
          <a:xfrm>
            <a:off x="542925" y="3190019"/>
            <a:ext cx="618548" cy="223242"/>
          </a:xfrm>
          <a:prstGeom prst="rect">
            <a:avLst/>
          </a:prstGeom>
          <a:solidFill>
            <a:srgbClr val="F8E71C">
              <a:alpha val="10000"/>
            </a:srgbClr>
          </a:solidFill>
          <a:ln w="9144">
            <a:solidFill>
              <a:srgbClr val="F8E71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63" y="3237347"/>
            <a:ext cx="112040" cy="1143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83552" y="3225738"/>
            <a:ext cx="29219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E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</a:t>
            </a:r>
            <a:endParaRPr lang="en-US" sz="784" dirty="0"/>
          </a:p>
        </p:txBody>
      </p:sp>
      <p:sp>
        <p:nvSpPr>
          <p:cNvPr id="38" name="Text 29"/>
          <p:cNvSpPr/>
          <p:nvPr/>
        </p:nvSpPr>
        <p:spPr>
          <a:xfrm>
            <a:off x="1614488" y="3207879"/>
            <a:ext cx="34932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Otimização de UX mobile</a:t>
            </a:r>
            <a:endParaRPr lang="en-US" sz="987" dirty="0"/>
          </a:p>
        </p:txBody>
      </p:sp>
      <p:sp>
        <p:nvSpPr>
          <p:cNvPr id="39" name="Text 30"/>
          <p:cNvSpPr/>
          <p:nvPr/>
        </p:nvSpPr>
        <p:spPr>
          <a:xfrm>
            <a:off x="5107781" y="3216808"/>
            <a:ext cx="2997615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pt-BR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 incremental de conversão via melhoria de experiência</a:t>
            </a:r>
            <a:endParaRPr lang="en-US" sz="942" dirty="0"/>
          </a:p>
        </p:txBody>
      </p:sp>
      <p:sp>
        <p:nvSpPr>
          <p:cNvPr id="40" name="Shape 31"/>
          <p:cNvSpPr/>
          <p:nvPr/>
        </p:nvSpPr>
        <p:spPr>
          <a:xfrm>
            <a:off x="428625" y="4090188"/>
            <a:ext cx="8286750" cy="910437"/>
          </a:xfrm>
          <a:prstGeom prst="rect">
            <a:avLst/>
          </a:prstGeom>
          <a:solidFill>
            <a:srgbClr val="F5A623"/>
          </a:solidFill>
          <a:ln w="914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2"/>
          <p:cNvSpPr/>
          <p:nvPr/>
        </p:nvSpPr>
        <p:spPr>
          <a:xfrm>
            <a:off x="514350" y="4190200"/>
            <a:ext cx="8115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DO DIAGNÓSTICO</a:t>
            </a:r>
            <a:endParaRPr lang="en-US" sz="987" dirty="0"/>
          </a:p>
        </p:txBody>
      </p:sp>
      <p:sp>
        <p:nvSpPr>
          <p:cNvPr id="42" name="Text 33"/>
          <p:cNvSpPr/>
          <p:nvPr/>
        </p:nvSpPr>
        <p:spPr>
          <a:xfrm>
            <a:off x="514350" y="4434873"/>
            <a:ext cx="81153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pt-BR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crescimento atual é limitado por ineficiências no </a:t>
            </a:r>
            <a:r>
              <a:rPr lang="pt-BR" sz="1193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funil</a:t>
            </a:r>
            <a:r>
              <a:rPr lang="pt-BR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na qualidade do </a:t>
            </a:r>
            <a:r>
              <a:rPr lang="pt-BR" sz="1193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</a:t>
            </a:r>
            <a:r>
              <a:rPr lang="pt-BR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As maiores alavancas de curto prazo são: </a:t>
            </a:r>
            <a:r>
              <a:rPr lang="pt-BR" sz="1193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reduzir cancelamentos </a:t>
            </a:r>
            <a:r>
              <a:rPr lang="pt-BR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aumentar o </a:t>
            </a:r>
            <a:r>
              <a:rPr lang="pt-BR" sz="1193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médio</a:t>
            </a:r>
            <a:r>
              <a:rPr lang="pt-BR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 apenas gerar mais demanda.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815</Words>
  <Application>Microsoft Office PowerPoint</Application>
  <PresentationFormat>Apresentação na tela (16:9)</PresentationFormat>
  <Paragraphs>131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Inter</vt:lpstr>
      <vt:lpstr>monospace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Michele Leite</cp:lastModifiedBy>
  <cp:revision>4</cp:revision>
  <dcterms:created xsi:type="dcterms:W3CDTF">2026-04-13T21:48:58Z</dcterms:created>
  <dcterms:modified xsi:type="dcterms:W3CDTF">2026-04-15T01:10:52Z</dcterms:modified>
</cp:coreProperties>
</file>